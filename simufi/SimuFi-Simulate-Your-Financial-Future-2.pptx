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98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9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9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9998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1900357"/>
            <a:ext cx="2652117" cy="265211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46684" y="1873210"/>
            <a:ext cx="4446508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SimuFi: Simulate Your Financial Future 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58309" y="5039916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those who want clarity in chaos — no advisors, no spreadsheets, just simulation-backed answers.</a:t>
            </a:r>
            <a:endParaRPr lang="en-US" sz="17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5977057"/>
            <a:ext cx="2349222" cy="595789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759" y="5977057"/>
            <a:ext cx="1807964" cy="595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46942"/>
            <a:ext cx="771310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Visualise Your Financial Future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44635" y="26959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Investment Modeling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182064"/>
            <a:ext cx="393704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your portfolio's performance across different market conditions, from bull runs to bear markets.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121" y="3349288"/>
            <a:ext cx="324088" cy="4051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4932" y="252257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Crypto Integration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4932" y="3008709"/>
            <a:ext cx="39371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Seamlessly incorporate cryptocurrencies like Bitcoin and Ethereum into your long-term financial planning.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834" y="3349288"/>
            <a:ext cx="324088" cy="4051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4932" y="49799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Inflation Impact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4932" y="5466040"/>
            <a:ext cx="39371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how inflation might erode your purchasing power, and how different assets can help preserve wealth.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834" y="5621000"/>
            <a:ext cx="324088" cy="40517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44635" y="515326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Value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8309" y="5639395"/>
            <a:ext cx="393704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what matters: your actual buying power in the future, not just nominal returns.</a:t>
            </a:r>
            <a:endParaRPr lang="en-US" sz="17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0270" y="2392918"/>
            <a:ext cx="4589740" cy="4589740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7121" y="5621000"/>
            <a:ext cx="324088" cy="4051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47487"/>
            <a:ext cx="690931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Powerful Simulation Engine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1993463"/>
            <a:ext cx="1639133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535" y="2436019"/>
            <a:ext cx="304681" cy="3807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14017" y="22100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Input Your Parameters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614017" y="2696170"/>
            <a:ext cx="7210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your starting balance, monthly contributions, and time horizon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505670" y="3244215"/>
            <a:ext cx="11258193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</p:sp>
      <p:sp>
        <p:nvSpPr>
          <p:cNvPr id="8" name="Shape 5"/>
          <p:cNvSpPr/>
          <p:nvPr/>
        </p:nvSpPr>
        <p:spPr>
          <a:xfrm>
            <a:off x="758309" y="3367683"/>
            <a:ext cx="3278386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162" y="3810238"/>
            <a:ext cx="304681" cy="3807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53270" y="3584258"/>
            <a:ext cx="294560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Adjust Your Allocations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253270" y="4070390"/>
            <a:ext cx="620577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Customize your mix of traditional and crypto investments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144923" y="4618434"/>
            <a:ext cx="9618940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</p:sp>
      <p:sp>
        <p:nvSpPr>
          <p:cNvPr id="13" name="Shape 9"/>
          <p:cNvSpPr/>
          <p:nvPr/>
        </p:nvSpPr>
        <p:spPr>
          <a:xfrm>
            <a:off x="758309" y="4741902"/>
            <a:ext cx="4917638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788" y="5184458"/>
            <a:ext cx="304681" cy="3807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92522" y="4958477"/>
            <a:ext cx="315765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Run Monte Carlo Analysis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5892522" y="5444609"/>
            <a:ext cx="669869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thousands of possible futures based on historical patterns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5784175" y="5992654"/>
            <a:ext cx="7979688" cy="15240"/>
          </a:xfrm>
          <a:prstGeom prst="roundRect">
            <a:avLst>
              <a:gd name="adj" fmla="val 1279500"/>
            </a:avLst>
          </a:prstGeom>
          <a:solidFill>
            <a:srgbClr val="60646A"/>
          </a:solidFill>
          <a:ln/>
        </p:spPr>
      </p:sp>
      <p:sp>
        <p:nvSpPr>
          <p:cNvPr id="18" name="Shape 13"/>
          <p:cNvSpPr/>
          <p:nvPr/>
        </p:nvSpPr>
        <p:spPr>
          <a:xfrm>
            <a:off x="758309" y="6116122"/>
            <a:ext cx="6556891" cy="1265992"/>
          </a:xfrm>
          <a:prstGeom prst="roundRect">
            <a:avLst>
              <a:gd name="adj" fmla="val 154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414" y="6558677"/>
            <a:ext cx="304681" cy="38076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31775" y="6332696"/>
            <a:ext cx="305133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Gain Actionable Insights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531775" y="6818828"/>
            <a:ext cx="583692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your financial possibilities in plain English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00232"/>
            <a:ext cx="86896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Customize Your Financial Scenario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181582"/>
            <a:ext cx="4018359" cy="2749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1746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Intuitive Controls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5747504"/>
            <a:ext cx="4018359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simple sliders and dropdowns to adjust your financial inputs without the complexity of spreadsheets or financial jargon.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312926" y="21544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Parameters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12926" y="2727246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Starting balance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312926" y="3149679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contribution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312926" y="3572113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timeframe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312926" y="3994547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 expectations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312926" y="4416981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Inflation projections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312926" y="4839414"/>
            <a:ext cx="401835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Crypto allocation percentages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867543" y="21544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Updates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67543" y="2727246"/>
            <a:ext cx="4018359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 your financial projection change instantly as you adjust parameters, helping you understand the impact of different decisions on your future wealth.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5418" y="905113"/>
            <a:ext cx="5406271" cy="67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Simulation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05418" y="1889046"/>
            <a:ext cx="770596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SimuFi translates complex financial projections into actionable insights you can understand.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05418" y="3008471"/>
            <a:ext cx="462201" cy="462201"/>
          </a:xfrm>
          <a:prstGeom prst="roundRect">
            <a:avLst>
              <a:gd name="adj" fmla="val 400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0800" dist="25400" dir="13500000">
              <a:srgbClr val="ffffff">
                <a:alpha val="1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56" y="3036868"/>
            <a:ext cx="324326" cy="405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73002" y="3008471"/>
            <a:ext cx="288309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 Probability Cones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873002" y="3469481"/>
            <a:ext cx="308276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your wealth's likely trajectory with clear confidence intervals showing best and worst scenarios.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0161151" y="3008471"/>
            <a:ext cx="462201" cy="462201"/>
          </a:xfrm>
          <a:prstGeom prst="roundRect">
            <a:avLst>
              <a:gd name="adj" fmla="val 400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0800" dist="25400" dir="13500000">
              <a:srgbClr val="ffffff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088" y="3036868"/>
            <a:ext cx="324326" cy="4054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28734" y="3008471"/>
            <a:ext cx="272438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 Purchasing Power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0828734" y="3469481"/>
            <a:ext cx="308276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projections show inflation-adjusted purchasing power, not misleading nominal figures.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205418" y="5220414"/>
            <a:ext cx="462201" cy="462201"/>
          </a:xfrm>
          <a:prstGeom prst="roundRect">
            <a:avLst>
              <a:gd name="adj" fmla="val 400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0800" dist="25400" dir="13500000">
              <a:srgbClr val="ffffff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356" y="5248811"/>
            <a:ext cx="324326" cy="4054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73002" y="5220414"/>
            <a:ext cx="295013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 Growth Trajectory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6873002" y="5681424"/>
            <a:ext cx="3082766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your wealth's potential path with confidence intervals showing best and worst scenarios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10161151" y="5220414"/>
            <a:ext cx="462201" cy="462201"/>
          </a:xfrm>
          <a:prstGeom prst="roundRect">
            <a:avLst>
              <a:gd name="adj" fmla="val 40003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0800" dist="25400" dir="13500000">
              <a:srgbClr val="ffffff">
                <a:alpha val="1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0088" y="5248811"/>
            <a:ext cx="324326" cy="4054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828734" y="5220414"/>
            <a:ext cx="273927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 In Plain English</a:t>
            </a:r>
            <a:endParaRPr lang="en-US" sz="2100" dirty="0"/>
          </a:p>
        </p:txBody>
      </p:sp>
      <p:sp>
        <p:nvSpPr>
          <p:cNvPr id="20" name="Text 13"/>
          <p:cNvSpPr/>
          <p:nvPr/>
        </p:nvSpPr>
        <p:spPr>
          <a:xfrm>
            <a:off x="10828734" y="5681424"/>
            <a:ext cx="3082766" cy="164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"In 20 years, your real-world buying power could range from $780,000 to $1.25 million, accounting for inflation.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206" y="769501"/>
            <a:ext cx="2123003" cy="21230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10414" y="744736"/>
            <a:ext cx="10632281" cy="130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Future of Investing: Simulation-Powered, AI-Executed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95206" y="3537823"/>
            <a:ext cx="26135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$SIMU Token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95206" y="406300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and access in one powerful token.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5206" y="487703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 in fund profits via staking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5206" y="5581769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Unlock premium simulations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5206" y="628650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Vote on investment strategies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95206" y="710053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 SimuFi. Guide the future.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133969" y="3537823"/>
            <a:ext cx="26135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Agentic AI Layer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4133969" y="406300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AI that executes what it simulates.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133969" y="487703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Analyses macro data and on-chain activity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133969" y="5581769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Runs thousands of simulations daily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133969" y="628650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Executes trades based on expected value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133969" y="7100530"/>
            <a:ext cx="29465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 meets DeFi strategy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572732" y="3537823"/>
            <a:ext cx="26135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Fully On-Chain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7572732" y="406300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transparency in every decision.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72732" y="4877038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contracts for treasury management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572732" y="5581769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AI decisions publicly visible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572732" y="628650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privacy for enterprise users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7572732" y="7100530"/>
            <a:ext cx="29465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everything. Or fork it.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11011495" y="3537823"/>
            <a:ext cx="261354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Simulation Portal</a:t>
            </a:r>
            <a:endParaRPr lang="en-US" sz="2050" dirty="0"/>
          </a:p>
        </p:txBody>
      </p:sp>
      <p:sp>
        <p:nvSpPr>
          <p:cNvPr id="23" name="Text 20"/>
          <p:cNvSpPr/>
          <p:nvPr/>
        </p:nvSpPr>
        <p:spPr>
          <a:xfrm>
            <a:off x="11011495" y="4063008"/>
            <a:ext cx="29465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before you invest.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1011495" y="4559379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Try FIRE plans or ETH staking strategies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1011495" y="5264110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Opt-in for AI-managed allocation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11011495" y="5968841"/>
            <a:ext cx="294655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 insights from collective data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11011495" y="6782872"/>
            <a:ext cx="294655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Simulate before you stake.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58309" y="1955483"/>
            <a:ext cx="717839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Secure and Privacy-Focused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2993112"/>
            <a:ext cx="3278386" cy="8665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4884" y="4184571"/>
            <a:ext cx="28452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Account Required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74884" y="4670703"/>
            <a:ext cx="284523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simulations without creating an account or sharing personal information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695" y="2993112"/>
            <a:ext cx="3278505" cy="8665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53270" y="4184571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Local Processing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4253270" y="4670703"/>
            <a:ext cx="284535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calculations happen in your browser—your financial data never leaves your device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993112"/>
            <a:ext cx="3278386" cy="8665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31775" y="4184571"/>
            <a:ext cx="28452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 Data Collection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531775" y="4670703"/>
            <a:ext cx="284523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don't track your inputs or store your financial information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3586" y="2993112"/>
            <a:ext cx="3278505" cy="86653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810161" y="4184571"/>
            <a:ext cx="28453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Open Source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0810161" y="4670703"/>
            <a:ext cx="2845356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simulation algorithms are transparent and peer-reviewed for accuracy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303" y="709851"/>
            <a:ext cx="5363885" cy="67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SimuFi Works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303" y="1787843"/>
            <a:ext cx="13203793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SimuFi creates a seamless value loop between users, AI, and token holders.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017038" y="2704028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Simulations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13303" y="3161586"/>
            <a:ext cx="3985617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run financial simulations to visualise potential wealth trajectories across traditional and crypto assets.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124" y="3301663"/>
            <a:ext cx="304919" cy="3811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1479" y="2347793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Analysis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9931479" y="2805351"/>
            <a:ext cx="3985617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 processes simulation data to identify optimal investment strategies.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502" y="3033772"/>
            <a:ext cx="304919" cy="3811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33397" y="4098846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Strategy Execution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10033397" y="4556403"/>
            <a:ext cx="3883700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choose between SaaS guidance or joining the collective DeFi fund.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6035" y="4741247"/>
            <a:ext cx="304919" cy="38111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931479" y="5523786"/>
            <a:ext cx="2763679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 Feedback</a:t>
            </a:r>
            <a:endParaRPr lang="en-US" sz="2100" dirty="0"/>
          </a:p>
        </p:txBody>
      </p:sp>
      <p:sp>
        <p:nvSpPr>
          <p:cNvPr id="17" name="Text 9"/>
          <p:cNvSpPr/>
          <p:nvPr/>
        </p:nvSpPr>
        <p:spPr>
          <a:xfrm>
            <a:off x="9931479" y="5981343"/>
            <a:ext cx="3985617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results feed back to improve future simulations and strategies.</a:t>
            </a:r>
            <a:endParaRPr lang="en-US" sz="16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0626" y="6064508"/>
            <a:ext cx="304919" cy="381119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2017038" y="5330547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Value Distribution</a:t>
            </a:r>
            <a:endParaRPr lang="en-US" sz="2100" dirty="0"/>
          </a:p>
        </p:txBody>
      </p:sp>
      <p:sp>
        <p:nvSpPr>
          <p:cNvPr id="21" name="Text 11"/>
          <p:cNvSpPr/>
          <p:nvPr/>
        </p:nvSpPr>
        <p:spPr>
          <a:xfrm>
            <a:off x="713303" y="5788104"/>
            <a:ext cx="3985617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 profits flow back to $SIMU token holders who stake in the ecosystem.</a:t>
            </a:r>
            <a:endParaRPr lang="en-US" sz="16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4554" y="2343150"/>
            <a:ext cx="4621292" cy="4621292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0178" y="5174754"/>
            <a:ext cx="304919" cy="381119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13303" y="7193637"/>
            <a:ext cx="13203793" cy="326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continuous feedback loop creates a self-improving financial ecosystem that benefits all participants.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63341"/>
            <a:ext cx="671322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Our Users Are Saying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3530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997" y="3382982"/>
            <a:ext cx="342067" cy="4275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2326" y="33530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Financial Clarity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3839170"/>
            <a:ext cx="3522821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"SimuFi finally helped me understand how my crypto investments fit into my overall financial picture. The visualisations make complex concepts instantly clear." — Joshua H, Crypto Investor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33530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409" y="3382982"/>
            <a:ext cx="342067" cy="4275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05738" y="3353038"/>
            <a:ext cx="288143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Confidence in Planning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05738" y="3839170"/>
            <a:ext cx="3522821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"I've always been intimidated by financial planning. SimuFi's approach removes the jargon and shows me exactly what I need to know." —  Rice S, Government Employee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9645134" y="3353038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282C32"/>
          </a:solidFill>
          <a:ln/>
          <a:effectLst>
            <a:outerShdw sx="100000" sy="100000" kx="0" ky="0" algn="bl" rotWithShape="0" blurRad="53340" dist="26670" dir="13500000">
              <a:srgbClr val="ffffff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822" y="3382982"/>
            <a:ext cx="342067" cy="4275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49151" y="33530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Decision Support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349151" y="3839170"/>
            <a:ext cx="3522821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"The ability to quickly test different scenarios has completely changed how I make investment decisions. It's like having a financial advisor in my pocket." — Ben P, Legal Paper Filer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05063"/>
            <a:ext cx="901398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Ready to See Your Financial Future?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59267"/>
            <a:ext cx="415456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10,000+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410176" y="464486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Simulations Run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5130998"/>
            <a:ext cx="41545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 gaining clarity about their financial futures daily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37798" y="3659267"/>
            <a:ext cx="4154686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$2.5B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889784" y="464486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Assets Modeled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7798" y="5130998"/>
            <a:ext cx="415468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traditional investments to cutting-edge crypto portfolios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17405" y="3659267"/>
            <a:ext cx="4154567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97%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369272" y="464486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Satisfaction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717405" y="5130998"/>
            <a:ext cx="415456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Investors report increased confidence in their financial decisions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2025-04-23T07:11:40Z</dcterms:created>
  <dcterms:modified xsi:type="dcterms:W3CDTF">2025-04-23T07:11:40Z</dcterms:modified>
</cp:coreProperties>
</file>